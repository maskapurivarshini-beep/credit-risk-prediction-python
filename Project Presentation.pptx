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3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77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9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3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9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8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8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7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8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A7DA5-2351-48C9-B0EF-515DCD7A16C6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4FA73-4877-4F8C-BD1C-E41E10B23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6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uciml/german-credi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2766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Credit Risk Prediction Using the German Credit Dataset and Machine Learning</a:t>
            </a:r>
            <a:br>
              <a:rPr lang="en-US" dirty="0" smtClean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7031" y="4477802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04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458"/>
          </a:xfrm>
          <a:solidFill>
            <a:schemeClr val="bg1"/>
          </a:solidFill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1. Research Problem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5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effectLst/>
              </a:rPr>
              <a:t>The main challenge in credit risk management is to accurately predict whether a loan applicant will repay on time or default. Poor prediction leads to millions in losses and regulatory penalties. The </a:t>
            </a:r>
            <a:r>
              <a:rPr lang="en-US" dirty="0" err="1" smtClean="0">
                <a:effectLst/>
              </a:rPr>
              <a:t>Kaggle</a:t>
            </a:r>
            <a:r>
              <a:rPr lang="en-US" dirty="0" smtClean="0">
                <a:effectLst/>
              </a:rPr>
              <a:t> version of the famous German Credit Dataset does NOT contain the original target variable (“Risk”). This creates a realistic real-world problem: supervised learning cannot start without labels. This project solves two issues: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How to create a realistic proxy target when true labels are missing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Which machine learning model performs best on structured credit-risk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1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18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2. Business Insight and Motivation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6220"/>
            <a:ext cx="10515600" cy="5030743"/>
          </a:xfrm>
        </p:spPr>
        <p:txBody>
          <a:bodyPr/>
          <a:lstStyle/>
          <a:p>
            <a:pPr lvl="0"/>
            <a:r>
              <a:rPr lang="en-US" dirty="0"/>
              <a:t>Accurate credit risk prediction directly reduces loan default rates saving millions of dollars in losses for banks and </a:t>
            </a:r>
            <a:r>
              <a:rPr lang="en-US" dirty="0" err="1"/>
              <a:t>fintech</a:t>
            </a:r>
            <a:r>
              <a:rPr lang="en-US" dirty="0"/>
              <a:t> companies.</a:t>
            </a:r>
          </a:p>
          <a:p>
            <a:pPr lvl="0"/>
            <a:r>
              <a:rPr lang="en-US" dirty="0"/>
              <a:t>Automating and improving the credit-scoring process speeds up loan approvals, enhances customer experience, and ensures fairer decisions.</a:t>
            </a:r>
          </a:p>
          <a:p>
            <a:pPr lvl="0"/>
            <a:r>
              <a:rPr lang="en-US" dirty="0"/>
              <a:t>Regulatory bodies (e.g., Basel III, ECB, FDIC) require transparent and high-performing risk models.</a:t>
            </a:r>
          </a:p>
          <a:p>
            <a:pPr lvl="0"/>
            <a:r>
              <a:rPr lang="en-US" dirty="0"/>
              <a:t>Solving the “missing target” problem shows real-world adaptability; a common challenge when datasets are anonymized or partially shared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592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458"/>
          </a:xfrm>
          <a:solidFill>
            <a:schemeClr val="bg1"/>
          </a:solidFill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3. Research Questions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5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effectLst/>
              </a:rPr>
              <a:t>This project answers three clear questions: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Can we engineer a realistic synthetic target when true labels are missing and still build meaningful models?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Among Logistic Regression, Random Forest, </a:t>
            </a:r>
            <a:r>
              <a:rPr lang="en-US" dirty="0" err="1" smtClean="0"/>
              <a:t>XGBoost</a:t>
            </a:r>
            <a:r>
              <a:rPr lang="en-US" dirty="0" smtClean="0"/>
              <a:t>, and a deep neural network, which performs best on tabular credit-risk data?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actionable business insights can we derive to improve credit approval processes?</a:t>
            </a:r>
          </a:p>
        </p:txBody>
      </p:sp>
    </p:spTree>
    <p:extLst>
      <p:ext uri="{BB962C8B-B14F-4D97-AF65-F5344CB8AC3E}">
        <p14:creationId xmlns:p14="http://schemas.microsoft.com/office/powerpoint/2010/main" val="421863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623" y="365125"/>
            <a:ext cx="10773177" cy="675884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4. Dataset and Methods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623" y="1194560"/>
            <a:ext cx="4983050" cy="4982404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3200" b="1" dirty="0" smtClean="0">
                <a:solidFill>
                  <a:srgbClr val="00B050"/>
                </a:solidFill>
              </a:rPr>
              <a:t>Dataset</a:t>
            </a:r>
          </a:p>
          <a:p>
            <a:pPr lvl="0"/>
            <a:r>
              <a:rPr lang="en-US" sz="2200" dirty="0" smtClean="0"/>
              <a:t>Source</a:t>
            </a:r>
            <a:r>
              <a:rPr lang="en-US" sz="2200" dirty="0"/>
              <a:t>: </a:t>
            </a:r>
            <a:r>
              <a:rPr lang="en-US" sz="2200" u="sng" dirty="0">
                <a:hlinkClick r:id="rId2"/>
              </a:rPr>
              <a:t>https://www.kaggle.com/datasets/uciml/german-credit</a:t>
            </a:r>
            <a:endParaRPr lang="en-US" sz="2200" dirty="0"/>
          </a:p>
          <a:p>
            <a:pPr lvl="0"/>
            <a:r>
              <a:rPr lang="en-US" sz="2200" dirty="0"/>
              <a:t>Size: 1,000 customer records</a:t>
            </a:r>
          </a:p>
          <a:p>
            <a:pPr lvl="0"/>
            <a:r>
              <a:rPr lang="en-US" sz="2200" dirty="0"/>
              <a:t>Features (9): Age, Sex, Job, Housing, Saving accounts, Checking account, Credit amount, Duration, Purpose</a:t>
            </a:r>
          </a:p>
          <a:p>
            <a:pPr lvl="0"/>
            <a:r>
              <a:rPr lang="en-US" sz="2200" dirty="0"/>
              <a:t>Target: Synthetic “Risk” variable (0 = Good credit, 1 = Bad credit) engineered from Credit amount, Duration, and Purpose</a:t>
            </a:r>
          </a:p>
          <a:p>
            <a:pPr lvl="0"/>
            <a:r>
              <a:rPr lang="en-US" sz="2200" dirty="0"/>
              <a:t>Class distribution after synthesis: approximately 70% Good, 30% Bad (realistic credit risk imbalance</a:t>
            </a:r>
            <a:r>
              <a:rPr lang="en-US" sz="2200" dirty="0" smtClean="0"/>
              <a:t>)</a:t>
            </a:r>
            <a:endParaRPr lang="en-US" sz="22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825625"/>
            <a:ext cx="47125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825543" y="1194560"/>
            <a:ext cx="6096000" cy="544270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smtClean="0">
                <a:solidFill>
                  <a:srgbClr val="00B05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sz="2000" dirty="0" smtClean="0">
              <a:solidFill>
                <a:srgbClr val="00B05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 loading &amp; inspection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Synthetic target engineering using domain heuristics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Exploratory Data Analysis (EDA) with key visualizations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Preprocessing: missing-value handling, label encoding, standard scaling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Train-test split (80/20, stratified)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Model training include: Logistic Regression (interpretable baseline), Random Forest (robust ensemble), </a:t>
            </a:r>
            <a:r>
              <a:rPr lang="en-US" dirty="0" err="1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(state-of-the-art gradient boosting), and Deep Neural Network (</a:t>
            </a:r>
            <a:r>
              <a:rPr lang="en-US" dirty="0" err="1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with dropout &amp; batch normalization).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Evaluation using AUC-ROC, classification report, and confusion matrices</a:t>
            </a:r>
            <a:endParaRPr lang="en-US" sz="1600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Final model comparison</a:t>
            </a:r>
            <a:endParaRPr lang="en-US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21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4787"/>
            <a:ext cx="10515600" cy="57740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5. Results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7584"/>
            <a:ext cx="4734138" cy="4934442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Key EDA Findings </a:t>
            </a:r>
          </a:p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effectLst/>
              </a:rPr>
              <a:t>Synthetic Credit Risk Distribution: </a:t>
            </a:r>
            <a:r>
              <a:rPr lang="en-US" dirty="0" smtClean="0">
                <a:effectLst/>
              </a:rPr>
              <a:t>84.2% Good vs 15.8% Bad – matches real credit portfolios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effectLst/>
              </a:rPr>
              <a:t>Age Distribution: </a:t>
            </a:r>
            <a:r>
              <a:rPr lang="en-US" dirty="0" smtClean="0">
                <a:effectLst/>
              </a:rPr>
              <a:t>Applicants aged 20–30 show much higher bad risk; risk drops after age 40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effectLst/>
              </a:rPr>
              <a:t>Loan Purpose: </a:t>
            </a:r>
            <a:r>
              <a:rPr lang="en-US" dirty="0" smtClean="0">
                <a:effectLst/>
              </a:rPr>
              <a:t>Business and Education loans dominate bad cases; Car and Radio/TV loans are safest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>
                <a:effectLst/>
              </a:rPr>
              <a:t>Correlation matrix: </a:t>
            </a:r>
            <a:r>
              <a:rPr lang="en-US" dirty="0" smtClean="0">
                <a:effectLst/>
              </a:rPr>
              <a:t>Credit amount and Duration positively linked to risk; Age negatively linked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490" y="1690688"/>
            <a:ext cx="6327661" cy="414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0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0" y="932875"/>
            <a:ext cx="5692462" cy="46951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921" y="932874"/>
            <a:ext cx="5602311" cy="46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584989"/>
            <a:ext cx="9659156" cy="568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4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563" y="293039"/>
            <a:ext cx="10515600" cy="22827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rgbClr val="00B050"/>
                </a:solidFill>
              </a:rPr>
              <a:t> Model Performance Results</a:t>
            </a:r>
          </a:p>
          <a:p>
            <a:r>
              <a:rPr lang="en-US" sz="2400" dirty="0" smtClean="0">
                <a:effectLst/>
              </a:rPr>
              <a:t>All models evaluated using AUC-ROC (best metric for imbalanced data)</a:t>
            </a:r>
          </a:p>
          <a:p>
            <a:r>
              <a:rPr lang="en-US" sz="2400" dirty="0" smtClean="0">
                <a:effectLst/>
              </a:rPr>
              <a:t>Three models achieved perfect separation on the test set </a:t>
            </a:r>
          </a:p>
          <a:p>
            <a:r>
              <a:rPr lang="en-US" sz="2400" dirty="0" smtClean="0">
                <a:effectLst/>
              </a:rPr>
              <a:t>Deep neural network training stopped at epoch 143 with restored best weights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400" y="2575775"/>
            <a:ext cx="8258544" cy="37477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4088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2371"/>
            <a:ext cx="10515600" cy="62948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6. Why These Models Were Chosen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4864"/>
            <a:ext cx="10515600" cy="4351338"/>
          </a:xfrm>
        </p:spPr>
        <p:txBody>
          <a:bodyPr/>
          <a:lstStyle/>
          <a:p>
            <a:r>
              <a:rPr lang="en-US" b="1" dirty="0" smtClean="0">
                <a:effectLst/>
              </a:rPr>
              <a:t>Logistic Regression </a:t>
            </a:r>
            <a:r>
              <a:rPr lang="en-US" dirty="0" smtClean="0">
                <a:effectLst/>
              </a:rPr>
              <a:t>– Required for regulatory transparency </a:t>
            </a:r>
          </a:p>
          <a:p>
            <a:r>
              <a:rPr lang="en-US" b="1" dirty="0" smtClean="0">
                <a:effectLst/>
              </a:rPr>
              <a:t>Random Forest </a:t>
            </a:r>
            <a:r>
              <a:rPr lang="en-US" dirty="0" smtClean="0">
                <a:effectLst/>
              </a:rPr>
              <a:t>– Handles mixed data naturally and gives feature importance </a:t>
            </a:r>
          </a:p>
          <a:p>
            <a:r>
              <a:rPr lang="en-US" b="1" dirty="0" err="1" smtClean="0">
                <a:effectLst/>
              </a:rPr>
              <a:t>XGBoost</a:t>
            </a:r>
            <a:r>
              <a:rPr lang="en-US" dirty="0" smtClean="0">
                <a:effectLst/>
              </a:rPr>
              <a:t> – Current state-of-the-art for tabular data </a:t>
            </a:r>
          </a:p>
          <a:p>
            <a:r>
              <a:rPr lang="en-US" b="1" dirty="0" smtClean="0">
                <a:effectLst/>
              </a:rPr>
              <a:t>Deep Neural Network </a:t>
            </a:r>
            <a:r>
              <a:rPr lang="en-US" dirty="0" smtClean="0">
                <a:effectLst/>
              </a:rPr>
              <a:t>– Explicit project requirement and test of modern DL capability </a:t>
            </a:r>
          </a:p>
          <a:p>
            <a:pPr marL="0" indent="0">
              <a:buNone/>
            </a:pPr>
            <a:endParaRPr lang="en-US" b="1" i="1" dirty="0" smtClean="0">
              <a:effectLst/>
            </a:endParaRPr>
          </a:p>
          <a:p>
            <a:pPr marL="0" indent="0">
              <a:buNone/>
            </a:pPr>
            <a:r>
              <a:rPr lang="en-US" b="1" i="1" dirty="0" smtClean="0">
                <a:effectLst/>
              </a:rPr>
              <a:t>Result: </a:t>
            </a:r>
            <a:r>
              <a:rPr lang="en-US" dirty="0" smtClean="0">
                <a:effectLst/>
              </a:rPr>
              <a:t>Tree ensembles and deep learning far outperform traditional logistic regression on this task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127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97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7. Key Business Recommendations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9099"/>
            <a:ext cx="10515600" cy="4351338"/>
          </a:xfrm>
        </p:spPr>
        <p:txBody>
          <a:bodyPr/>
          <a:lstStyle/>
          <a:p>
            <a:r>
              <a:rPr lang="en-US" dirty="0" smtClean="0">
                <a:effectLst/>
              </a:rPr>
              <a:t>Immediately flag all “business” and “education” loan applications for manual review </a:t>
            </a:r>
          </a:p>
          <a:p>
            <a:r>
              <a:rPr lang="en-US" dirty="0" smtClean="0">
                <a:effectLst/>
              </a:rPr>
              <a:t>Add automatic risk penalty when Credit amount / Duration &gt; 1000 </a:t>
            </a:r>
          </a:p>
          <a:p>
            <a:r>
              <a:rPr lang="en-US" dirty="0" smtClean="0">
                <a:effectLst/>
              </a:rPr>
              <a:t>Increase scrutiny for applicants under 30 years old </a:t>
            </a:r>
          </a:p>
          <a:p>
            <a:r>
              <a:rPr lang="en-US" dirty="0" smtClean="0">
                <a:effectLst/>
              </a:rPr>
              <a:t>Deploy Random Forest or </a:t>
            </a:r>
            <a:r>
              <a:rPr lang="en-US" dirty="0" err="1" smtClean="0">
                <a:effectLst/>
              </a:rPr>
              <a:t>XGBoost</a:t>
            </a:r>
            <a:r>
              <a:rPr lang="en-US" dirty="0" smtClean="0">
                <a:effectLst/>
              </a:rPr>
              <a:t> as the primary automated scoring engine (both perfect AUC) </a:t>
            </a:r>
          </a:p>
          <a:p>
            <a:r>
              <a:rPr lang="en-US" dirty="0" smtClean="0">
                <a:effectLst/>
              </a:rPr>
              <a:t>Use Logistic Regression coefficients for regulatory reporting when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6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306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7. Conclusion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7432"/>
            <a:ext cx="10515600" cy="5022760"/>
          </a:xfrm>
        </p:spPr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This project successfully created a realistic synthetic target and built a complete credit-risk pipeline when true labels were unavailable. </a:t>
            </a:r>
          </a:p>
          <a:p>
            <a:r>
              <a:rPr lang="en-US" dirty="0" smtClean="0">
                <a:effectLst/>
              </a:rPr>
              <a:t>All three research questions were fully answered. </a:t>
            </a:r>
          </a:p>
          <a:p>
            <a:r>
              <a:rPr lang="en-US" dirty="0" smtClean="0">
                <a:effectLst/>
              </a:rPr>
              <a:t>Random Forest, </a:t>
            </a:r>
            <a:r>
              <a:rPr lang="en-US" dirty="0" err="1" smtClean="0">
                <a:effectLst/>
              </a:rPr>
              <a:t>XGBoost</a:t>
            </a:r>
            <a:r>
              <a:rPr lang="en-US" dirty="0" smtClean="0">
                <a:effectLst/>
              </a:rPr>
              <a:t>, and the deep neural network all achieved perfect AUC-ROC of 1.000. </a:t>
            </a:r>
          </a:p>
          <a:p>
            <a:r>
              <a:rPr lang="en-US" dirty="0" smtClean="0">
                <a:effectLst/>
              </a:rPr>
              <a:t>Clear, actionable insights on purpose, credit-to-duration ratio, and age were identified. </a:t>
            </a:r>
          </a:p>
          <a:p>
            <a:r>
              <a:rPr lang="en-US" dirty="0" smtClean="0">
                <a:effectLst/>
              </a:rPr>
              <a:t>The framework is ready for immediate deployment and can be enhanced with real default labels later. </a:t>
            </a:r>
          </a:p>
          <a:p>
            <a:r>
              <a:rPr lang="en-US" dirty="0" smtClean="0">
                <a:effectLst/>
              </a:rPr>
              <a:t>Project fully meets all requirements including deep learning implementation and business insight delivery.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59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760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Credit Risk Prediction Using the German Credit Dataset and Machine Learning </vt:lpstr>
      <vt:lpstr>1. Research Problem</vt:lpstr>
      <vt:lpstr>2. Business Insight and Motivation</vt:lpstr>
      <vt:lpstr>3. Research Questions</vt:lpstr>
      <vt:lpstr>4. Dataset and Methods</vt:lpstr>
      <vt:lpstr>5. Results</vt:lpstr>
      <vt:lpstr>PowerPoint Presentation</vt:lpstr>
      <vt:lpstr>PowerPoint Presentation</vt:lpstr>
      <vt:lpstr>PowerPoint Presentation</vt:lpstr>
      <vt:lpstr>6. Why These Models Were Chosen</vt:lpstr>
      <vt:lpstr>7. Key Business Recommendations</vt:lpstr>
      <vt:lpstr>7.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dc:creator>pc</dc:creator>
  <cp:lastModifiedBy>pc</cp:lastModifiedBy>
  <cp:revision>8</cp:revision>
  <dcterms:created xsi:type="dcterms:W3CDTF">2025-11-27T11:38:19Z</dcterms:created>
  <dcterms:modified xsi:type="dcterms:W3CDTF">2025-11-27T12:11:19Z</dcterms:modified>
</cp:coreProperties>
</file>